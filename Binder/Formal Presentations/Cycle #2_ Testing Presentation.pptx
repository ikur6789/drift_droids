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6858000" cy="9144000"/>
  <p:embeddedFontLst>
    <p:embeddedFont>
      <p:font typeface="Proxima Nova"/>
      <p:regular r:id="rId26"/>
      <p:bold r:id="rId27"/>
      <p:italic r:id="rId28"/>
      <p:boldItalic r:id="rId29"/>
    </p:embeddedFont>
    <p:embeddedFont>
      <p:font typeface="Alfa Slab One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roximaNova-regular.fntdata"/><Relationship Id="rId25" Type="http://schemas.openxmlformats.org/officeDocument/2006/relationships/slide" Target="slides/slide21.xml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roximaNova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AlfaSlabOne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Shape 5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GO through a testing suite (design documents, mapped tests,etc.). Show off another demo to show improvement from last time. Can show each time adding a new feature that is deemed worthy to main that allows it to work.  If we have a test that we fix and then need another test, that would be good to show.  If we need to fill up time talk about the process.  If we have a demo showing some testing that would be good.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Shape 6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Shape 6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Shape 8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Shape 10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Shape 12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https://docs.google.com/spreadsheets/d/1NofODmkib2bIrLIvc6uFIpkNNPQW__n1UZg-CeiwHBA/edit#gid=0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Shape 13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Shape 14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Shape 15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Shape 15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Shape 1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Shape 17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hape 10"/>
          <p:cNvCxnSpPr/>
          <p:nvPr/>
        </p:nvCxnSpPr>
        <p:spPr>
          <a:xfrm>
            <a:off x="4278300" y="2751162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" name="Shape 11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5400"/>
            </a:lvl1pPr>
            <a:lvl2pPr lvl="1" algn="ctr">
              <a:spcBef>
                <a:spcPts val="0"/>
              </a:spcBef>
              <a:buSzPct val="100000"/>
              <a:defRPr sz="5400"/>
            </a:lvl2pPr>
            <a:lvl3pPr lvl="2" algn="ctr">
              <a:spcBef>
                <a:spcPts val="0"/>
              </a:spcBef>
              <a:buSzPct val="100000"/>
              <a:defRPr sz="5400"/>
            </a:lvl3pPr>
            <a:lvl4pPr lvl="3" algn="ctr">
              <a:spcBef>
                <a:spcPts val="0"/>
              </a:spcBef>
              <a:buSzPct val="100000"/>
              <a:defRPr sz="5400"/>
            </a:lvl4pPr>
            <a:lvl5pPr lvl="4" algn="ctr">
              <a:spcBef>
                <a:spcPts val="0"/>
              </a:spcBef>
              <a:buSzPct val="100000"/>
              <a:defRPr sz="5400"/>
            </a:lvl5pPr>
            <a:lvl6pPr lvl="5" algn="ctr">
              <a:spcBef>
                <a:spcPts val="0"/>
              </a:spcBef>
              <a:buSzPct val="100000"/>
              <a:defRPr sz="5400"/>
            </a:lvl6pPr>
            <a:lvl7pPr lvl="6" algn="ctr">
              <a:spcBef>
                <a:spcPts val="0"/>
              </a:spcBef>
              <a:buSzPct val="100000"/>
              <a:defRPr sz="5400"/>
            </a:lvl7pPr>
            <a:lvl8pPr lvl="7" algn="ctr">
              <a:spcBef>
                <a:spcPts val="0"/>
              </a:spcBef>
              <a:buSzPct val="100000"/>
              <a:defRPr sz="5400"/>
            </a:lvl8pPr>
            <a:lvl9pPr lvl="8" algn="ctr">
              <a:spcBef>
                <a:spcPts val="0"/>
              </a:spcBef>
              <a:buSzPct val="100000"/>
              <a:defRPr sz="5400"/>
            </a:lvl9pPr>
          </a:lstStyle>
          <a:p/>
        </p:txBody>
      </p:sp>
      <p:sp>
        <p:nvSpPr>
          <p:cNvPr id="12" name="Shape 1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400"/>
            </a:lvl9pPr>
          </a:lstStyle>
          <a:p/>
        </p:txBody>
      </p:sp>
      <p:sp>
        <p:nvSpPr>
          <p:cNvPr id="13" name="Shape 1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Shape 16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5" name="Shape 2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8" name="Shape 2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31" name="Shape 31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2" name="Shape 3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Shape 3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cxnSp>
        <p:nvCxnSpPr>
          <p:cNvPr id="38" name="Shape 38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" name="Shape 3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3800"/>
            </a:lvl1pPr>
            <a:lvl2pPr lvl="1" algn="ctr">
              <a:spcBef>
                <a:spcPts val="0"/>
              </a:spcBef>
              <a:buSzPct val="100000"/>
              <a:defRPr sz="3800"/>
            </a:lvl2pPr>
            <a:lvl3pPr lvl="2" algn="ctr">
              <a:spcBef>
                <a:spcPts val="0"/>
              </a:spcBef>
              <a:buSzPct val="100000"/>
              <a:defRPr sz="3800"/>
            </a:lvl3pPr>
            <a:lvl4pPr lvl="3" algn="ctr">
              <a:spcBef>
                <a:spcPts val="0"/>
              </a:spcBef>
              <a:buSzPct val="100000"/>
              <a:defRPr sz="3800"/>
            </a:lvl4pPr>
            <a:lvl5pPr lvl="4" algn="ctr">
              <a:spcBef>
                <a:spcPts val="0"/>
              </a:spcBef>
              <a:buSzPct val="100000"/>
              <a:defRPr sz="3800"/>
            </a:lvl5pPr>
            <a:lvl6pPr lvl="5" algn="ctr">
              <a:spcBef>
                <a:spcPts val="0"/>
              </a:spcBef>
              <a:buSzPct val="100000"/>
              <a:defRPr sz="3800"/>
            </a:lvl6pPr>
            <a:lvl7pPr lvl="6" algn="ctr">
              <a:spcBef>
                <a:spcPts val="0"/>
              </a:spcBef>
              <a:buSzPct val="100000"/>
              <a:defRPr sz="3800"/>
            </a:lvl7pPr>
            <a:lvl8pPr lvl="7" algn="ctr">
              <a:spcBef>
                <a:spcPts val="0"/>
              </a:spcBef>
              <a:buSzPct val="100000"/>
              <a:defRPr sz="3800"/>
            </a:lvl8pPr>
            <a:lvl9pPr lvl="8" algn="ctr">
              <a:spcBef>
                <a:spcPts val="0"/>
              </a:spcBef>
              <a:buSzPct val="100000"/>
              <a:defRPr sz="3800"/>
            </a:lvl9pPr>
          </a:lstStyle>
          <a:p/>
        </p:txBody>
      </p:sp>
      <p:sp>
        <p:nvSpPr>
          <p:cNvPr id="40" name="Shape 40"/>
          <p:cNvSpPr txBox="1"/>
          <p:nvPr>
            <p:ph idx="1" type="subTitle"/>
          </p:nvPr>
        </p:nvSpPr>
        <p:spPr>
          <a:xfrm>
            <a:off x="265500" y="2981125"/>
            <a:ext cx="4045200" cy="1345499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9pPr>
          </a:lstStyle>
          <a:p/>
        </p:txBody>
      </p:sp>
      <p:sp>
        <p:nvSpPr>
          <p:cNvPr id="41" name="Shape 4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Shape 4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Shape 4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/>
          <p:nvPr>
            <p:ph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buClr>
                <a:schemeClr val="dk1"/>
              </a:buClr>
              <a:buSzPct val="100000"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buClr>
                <a:schemeClr val="dk1"/>
              </a:buClr>
              <a:buSzPct val="100000"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buClr>
                <a:schemeClr val="dk1"/>
              </a:buClr>
              <a:buSzPct val="100000"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buClr>
                <a:schemeClr val="dk1"/>
              </a:buClr>
              <a:buSzPct val="100000"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buClr>
                <a:schemeClr val="dk1"/>
              </a:buClr>
              <a:buSzPct val="100000"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buClr>
                <a:schemeClr val="dk1"/>
              </a:buClr>
              <a:buSzPct val="100000"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buClr>
                <a:schemeClr val="dk1"/>
              </a:buClr>
              <a:buSzPct val="100000"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buClr>
                <a:schemeClr val="dk1"/>
              </a:buClr>
              <a:buSzPct val="100000"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buClr>
                <a:schemeClr val="dk1"/>
              </a:buClr>
              <a:buSzPct val="100000"/>
              <a:defRPr sz="1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" name="Shape 48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49" name="Shape 4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accent3"/>
              </a:buClr>
              <a:buSzPct val="100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buClr>
                <a:schemeClr val="accent3"/>
              </a:buClr>
              <a:buSzPct val="100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buClr>
                <a:schemeClr val="accent3"/>
              </a:buClr>
              <a:buSzPct val="100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buClr>
                <a:schemeClr val="accent3"/>
              </a:buClr>
              <a:buSzPct val="100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buClr>
                <a:schemeClr val="accent3"/>
              </a:buClr>
              <a:buSzPct val="100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buClr>
                <a:schemeClr val="accent3"/>
              </a:buClr>
              <a:buSzPct val="100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buClr>
                <a:schemeClr val="accent3"/>
              </a:buClr>
              <a:buSzPct val="100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buClr>
                <a:schemeClr val="accent3"/>
              </a:buClr>
              <a:buSzPct val="100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buClr>
                <a:schemeClr val="accent3"/>
              </a:buClr>
              <a:buSzPct val="100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Proxima Nova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Proxima Nova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Proxima Nova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Proxima Nova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Proxima Nova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Proxima Nova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Proxima Nova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Proxima Nova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Proxima Nova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document/d/1kp5At7XQi9BrnMfBigWF2Ryc_RWQS3-VOqH-zl05eBE/edi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spreadsheets/d/1Ok1cxItPZjW50UCG0dZuQW2RXA4mLEF8xaugaKP8rB0/edit#gid=0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youtube.com/v/tWWbyFo7LzE" TargetMode="External"/><Relationship Id="rId4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Cycle #2: Testing</a:t>
            </a:r>
          </a:p>
        </p:txBody>
      </p:sp>
      <p:sp>
        <p:nvSpPr>
          <p:cNvPr id="57" name="Shape 57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By: Bryan Berrent, Ian Kurzrock, Brian Malsan,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Alex Stewart, Matt Thauvette</a:t>
            </a:r>
          </a:p>
        </p:txBody>
      </p:sp>
      <p:pic>
        <p:nvPicPr>
          <p:cNvPr descr="Purp_Car.png" id="58" name="Shape 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425" y="475999"/>
            <a:ext cx="867150" cy="9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Overview</a:t>
            </a:r>
          </a:p>
        </p:txBody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System/Cycle Intents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Methods and Tools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Our Testing Process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Current Version </a:t>
            </a:r>
          </a:p>
          <a:p>
            <a:pPr indent="-381000" lvl="0" marL="457200">
              <a:spcBef>
                <a:spcPts val="0"/>
              </a:spcBef>
              <a:buSzPct val="100000"/>
            </a:pPr>
            <a:r>
              <a:rPr lang="en" sz="2400"/>
              <a:t>What’s Next?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4800"/>
              <a:t>System Intent</a:t>
            </a:r>
            <a:r>
              <a:rPr lang="en"/>
              <a:t>	</a:t>
            </a:r>
          </a:p>
        </p:txBody>
      </p:sp>
      <p:sp>
        <p:nvSpPr>
          <p:cNvPr id="70" name="Shape 70"/>
          <p:cNvSpPr txBox="1"/>
          <p:nvPr>
            <p:ph idx="1" type="body"/>
          </p:nvPr>
        </p:nvSpPr>
        <p:spPr>
          <a:xfrm>
            <a:off x="311700" y="12881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Drift droids is a game where players develop miniAT-driven vehicles that race around a track.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4800"/>
              <a:t>Cycle Intent</a:t>
            </a:r>
          </a:p>
        </p:txBody>
      </p:sp>
      <p:sp>
        <p:nvSpPr>
          <p:cNvPr id="76" name="Shape 76"/>
          <p:cNvSpPr txBox="1"/>
          <p:nvPr>
            <p:ph idx="1" type="body"/>
          </p:nvPr>
        </p:nvSpPr>
        <p:spPr>
          <a:xfrm>
            <a:off x="311700" y="1349800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Build upon current MVP by implementing miniAT controlled vehicles, expand user customization, fixup under laying friction map, and improve collision with the environment and other vehicles.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Our Methods and Tools</a:t>
            </a:r>
          </a:p>
        </p:txBody>
      </p:sp>
      <p:sp>
        <p:nvSpPr>
          <p:cNvPr id="82" name="Shape 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419100" lvl="0" marL="457200" rtl="0">
              <a:spcBef>
                <a:spcPts val="0"/>
              </a:spcBef>
              <a:buSzPct val="100000"/>
            </a:pPr>
            <a:r>
              <a:rPr lang="en" sz="3000"/>
              <a:t>Code::Blocks - IDE</a:t>
            </a:r>
          </a:p>
          <a:p>
            <a:pPr indent="-419100" lvl="0" marL="457200" rtl="0">
              <a:spcBef>
                <a:spcPts val="0"/>
              </a:spcBef>
              <a:buSzPct val="100000"/>
            </a:pPr>
            <a:r>
              <a:rPr lang="en" sz="3000"/>
              <a:t>Git/BitBucket - Repository</a:t>
            </a:r>
          </a:p>
          <a:p>
            <a:pPr indent="-419100" lvl="0" marL="457200" rtl="0">
              <a:spcBef>
                <a:spcPts val="0"/>
              </a:spcBef>
              <a:buSzPct val="100000"/>
            </a:pPr>
            <a:r>
              <a:rPr lang="en" sz="3000"/>
              <a:t>SMS Group Chat - Group Communication</a:t>
            </a:r>
          </a:p>
          <a:p>
            <a:pPr indent="-419100" lvl="0" marL="457200" rtl="0">
              <a:spcBef>
                <a:spcPts val="0"/>
              </a:spcBef>
              <a:buSzPct val="100000"/>
            </a:pPr>
            <a:r>
              <a:rPr lang="en" sz="3000"/>
              <a:t>Google Drive - File Storage (especially testing documents)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Our Testing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Preemption  </a:t>
            </a:r>
          </a:p>
        </p:txBody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The testers talk to the coders about what feature we want to implement.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At this point the </a:t>
            </a:r>
            <a:r>
              <a:rPr lang="en" sz="2400" u="sng">
                <a:solidFill>
                  <a:schemeClr val="hlink"/>
                </a:solidFill>
                <a:hlinkClick r:id="rId3"/>
              </a:rPr>
              <a:t>design document</a:t>
            </a:r>
            <a:r>
              <a:rPr lang="en" sz="2400"/>
              <a:t> for the feature is written. 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They then write up tests on their own to test against the feature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Testers see no code being created or edited while a feature is being </a:t>
            </a:r>
            <a:r>
              <a:rPr lang="en" sz="2400"/>
              <a:t>implemented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Sending to the Testers</a:t>
            </a:r>
          </a:p>
        </p:txBody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419100" lvl="0" marL="457200" rtl="0">
              <a:spcBef>
                <a:spcPts val="0"/>
              </a:spcBef>
              <a:buSzPct val="100000"/>
            </a:pPr>
            <a:r>
              <a:rPr lang="en" sz="3000"/>
              <a:t>We send an executable and all libraries needed to run the program.</a:t>
            </a:r>
          </a:p>
          <a:p>
            <a:pPr indent="-419100" lvl="0" marL="457200" rtl="0">
              <a:spcBef>
                <a:spcPts val="0"/>
              </a:spcBef>
              <a:buSzPct val="100000"/>
            </a:pPr>
            <a:r>
              <a:rPr lang="en" sz="3000"/>
              <a:t>No source code is given to the testers</a:t>
            </a:r>
          </a:p>
          <a:p>
            <a:pPr indent="-419100" lvl="0" marL="457200">
              <a:spcBef>
                <a:spcPts val="0"/>
              </a:spcBef>
              <a:buSzPct val="100000"/>
            </a:pPr>
            <a:r>
              <a:rPr lang="en" sz="3000"/>
              <a:t>They run through their tests and record their results into the testing document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Testing a Feature</a:t>
            </a:r>
          </a:p>
        </p:txBody>
      </p:sp>
      <p:sp>
        <p:nvSpPr>
          <p:cNvPr id="105" name="Shape 10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Testers load the program and then perform the test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Testers are not allowed to see any source code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They record the results into the “Results” section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And then give it a level of attention</a:t>
            </a:r>
          </a:p>
          <a:p>
            <a:pPr indent="-381000" lvl="1" marL="914400" rtl="0">
              <a:spcBef>
                <a:spcPts val="0"/>
              </a:spcBef>
              <a:buSzPct val="100000"/>
            </a:pPr>
            <a:r>
              <a:rPr lang="en" sz="2400"/>
              <a:t>AG - All Good (feature works as expected)</a:t>
            </a:r>
          </a:p>
          <a:p>
            <a:pPr indent="-381000" lvl="1" marL="914400" rtl="0">
              <a:spcBef>
                <a:spcPts val="0"/>
              </a:spcBef>
              <a:buSzPct val="100000"/>
            </a:pPr>
            <a:r>
              <a:rPr lang="en" sz="2400"/>
              <a:t>NA - Needs Attention (needs to be fixed, but not critical to program running)</a:t>
            </a:r>
          </a:p>
          <a:p>
            <a:pPr indent="-381000" lvl="1" marL="914400">
              <a:spcBef>
                <a:spcPts val="0"/>
              </a:spcBef>
              <a:buSzPct val="100000"/>
            </a:pPr>
            <a:r>
              <a:rPr lang="en" sz="2400"/>
              <a:t>FI - Fix </a:t>
            </a:r>
            <a:r>
              <a:rPr lang="en" sz="2400"/>
              <a:t>Immediately</a:t>
            </a:r>
            <a:r>
              <a:rPr lang="en" sz="2400"/>
              <a:t> (this problem will keep the game from functioning properly and must be corrected)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The Testing Document - Start</a:t>
            </a:r>
          </a:p>
        </p:txBody>
      </p:sp>
      <p:pic>
        <p:nvPicPr>
          <p:cNvPr id="111" name="Shape 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661" y="1017725"/>
            <a:ext cx="7334688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The Testing Document - Results</a:t>
            </a:r>
          </a:p>
        </p:txBody>
      </p:sp>
      <p:pic>
        <p:nvPicPr>
          <p:cNvPr id="117" name="Shape 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112" y="1017724"/>
            <a:ext cx="7063785" cy="397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Test Review</a:t>
            </a:r>
          </a:p>
        </p:txBody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419100" lvl="0" marL="457200" rtl="0">
              <a:spcBef>
                <a:spcPts val="0"/>
              </a:spcBef>
              <a:buSzPct val="100000"/>
            </a:pPr>
            <a:r>
              <a:rPr lang="en" sz="3000"/>
              <a:t>The document is then sent back to the coders to attempt to fix the problems</a:t>
            </a:r>
          </a:p>
          <a:p>
            <a:pPr indent="-419100" lvl="0" marL="457200" rtl="0">
              <a:spcBef>
                <a:spcPts val="0"/>
              </a:spcBef>
              <a:buSzPct val="100000"/>
            </a:pPr>
            <a:r>
              <a:rPr lang="en" sz="3000"/>
              <a:t>After they attempt to fix the problem, fixed or not, it is recorded in the document</a:t>
            </a:r>
          </a:p>
          <a:p>
            <a:pPr indent="-419100" lvl="0" marL="457200">
              <a:spcBef>
                <a:spcPts val="0"/>
              </a:spcBef>
              <a:buSzPct val="100000"/>
            </a:pPr>
            <a:r>
              <a:rPr lang="en" sz="3000"/>
              <a:t>Lastly after changes are made, it gets decided upon the coders if further testing is needed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The Testing Document - Finished</a:t>
            </a:r>
            <a:br>
              <a:rPr lang="en"/>
            </a:br>
          </a:p>
        </p:txBody>
      </p:sp>
      <p:sp>
        <p:nvSpPr>
          <p:cNvPr id="129" name="Shape 129"/>
          <p:cNvSpPr txBox="1"/>
          <p:nvPr>
            <p:ph type="title"/>
          </p:nvPr>
        </p:nvSpPr>
        <p:spPr>
          <a:xfrm>
            <a:off x="311700" y="2446350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u="sng">
                <a:solidFill>
                  <a:srgbClr val="3D85C6"/>
                </a:solidFill>
                <a:hlinkClick r:id="rId3"/>
              </a:rPr>
              <a:t>(Our Current Test 1 Document)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Current Version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Our Current Project Status</a:t>
            </a:r>
          </a:p>
        </p:txBody>
      </p:sp>
      <p:sp>
        <p:nvSpPr>
          <p:cNvPr id="140" name="Shape 1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406400" lvl="0" marL="457200" rtl="0">
              <a:spcBef>
                <a:spcPts val="0"/>
              </a:spcBef>
              <a:buSzPct val="100000"/>
            </a:pPr>
            <a:r>
              <a:rPr lang="en" sz="2800"/>
              <a:t>Multiple Cars that can be moved</a:t>
            </a:r>
          </a:p>
          <a:p>
            <a:pPr indent="-406400" lvl="0" marL="457200" rtl="0">
              <a:spcBef>
                <a:spcPts val="0"/>
              </a:spcBef>
              <a:buSzPct val="100000"/>
            </a:pPr>
            <a:r>
              <a:rPr lang="en" sz="2800"/>
              <a:t>Friction Maps are created but not implemented yet</a:t>
            </a:r>
          </a:p>
          <a:p>
            <a:pPr indent="-406400" lvl="0" marL="457200" rtl="0">
              <a:spcBef>
                <a:spcPts val="0"/>
              </a:spcBef>
              <a:buSzPct val="100000"/>
            </a:pPr>
            <a:r>
              <a:rPr lang="en" sz="2800"/>
              <a:t>MiniAT Integration</a:t>
            </a:r>
          </a:p>
          <a:p>
            <a:pPr indent="-406400" lvl="0" marL="457200">
              <a:spcBef>
                <a:spcPts val="0"/>
              </a:spcBef>
              <a:buSzPct val="100000"/>
            </a:pPr>
            <a:r>
              <a:rPr lang="en" sz="2800"/>
              <a:t>MiniAT moves one of our cars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Example Friction Map</a:t>
            </a:r>
          </a:p>
        </p:txBody>
      </p:sp>
      <p:pic>
        <p:nvPicPr>
          <p:cNvPr descr="friction_map.png" id="146" name="Shape 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5775" y="1017725"/>
            <a:ext cx="5792449" cy="387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/>
          <p:nvPr>
            <p:ph type="title"/>
          </p:nvPr>
        </p:nvSpPr>
        <p:spPr>
          <a:xfrm>
            <a:off x="459725" y="1348800"/>
            <a:ext cx="8114400" cy="24459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Drift Droids working with MiniAT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 title="Drift Droids 4-10-17">
            <a:hlinkClick r:id="rId3"/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What’s next?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What’s in Store for Drift Droids?</a:t>
            </a:r>
          </a:p>
        </p:txBody>
      </p:sp>
      <p:sp>
        <p:nvSpPr>
          <p:cNvPr id="167" name="Shape 1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406400" lvl="0" marL="457200" rtl="0">
              <a:spcBef>
                <a:spcPts val="0"/>
              </a:spcBef>
              <a:buSzPct val="100000"/>
            </a:pPr>
            <a:r>
              <a:rPr lang="en" sz="2800"/>
              <a:t>Main Menu</a:t>
            </a:r>
          </a:p>
          <a:p>
            <a:pPr indent="-406400" lvl="0" marL="457200" rtl="0">
              <a:spcBef>
                <a:spcPts val="0"/>
              </a:spcBef>
              <a:buSzPct val="100000"/>
            </a:pPr>
            <a:r>
              <a:rPr lang="en" sz="2800"/>
              <a:t>Scoring System / Time</a:t>
            </a:r>
          </a:p>
          <a:p>
            <a:pPr indent="-406400" lvl="0" marL="457200" rtl="0">
              <a:spcBef>
                <a:spcPts val="0"/>
              </a:spcBef>
              <a:buSzPct val="100000"/>
            </a:pPr>
            <a:r>
              <a:rPr lang="en" sz="2800"/>
              <a:t>Improved miniAT-accessed functions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6000"/>
              <a:t>Questions? Comments? Concerns?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